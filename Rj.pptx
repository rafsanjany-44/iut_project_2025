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4" r:id="rId5"/>
    <p:sldId id="269" r:id="rId6"/>
    <p:sldId id="261" r:id="rId7"/>
    <p:sldId id="266" r:id="rId8"/>
    <p:sldId id="265" r:id="rId9"/>
    <p:sldId id="268" r:id="rId10"/>
    <p:sldId id="270" r:id="rId11"/>
    <p:sldId id="271" r:id="rId12"/>
    <p:sldId id="272" r:id="rId13"/>
    <p:sldId id="273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FF52"/>
    <a:srgbClr val="FF0505"/>
    <a:srgbClr val="86F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A0A3-C6DB-38F1-1964-49609C7F5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36FB5-55FC-8432-C965-F2A67E558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DFC48-2F09-FA39-77FD-740B2019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7FC5C-07B5-CA99-1CFD-3DE07EF8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28D4F-7552-12BD-BC20-C69AE358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2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0FB8-BE69-EEA0-440A-F54EBF0B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BD8E-46A6-3BB7-84EC-71D657599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FBD4B-3F52-F2A6-0C2C-5ECE17F3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8FC73-4C50-3C7B-8331-8955CE91B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A3899-0F08-4820-C242-A50CB10B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1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7F57-C292-D38A-D727-4ED0E54F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67D2A-DF67-0BBA-5C7E-0B1D48F4A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11B0E-6DD8-2D24-01EF-994501F9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86993-3F40-F4BD-C280-D321A76F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38E87-7A28-DF0F-1B9F-FA1E6EBE5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2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EAF9-DE5D-6A20-E7CC-645EA56D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F253-6F6D-9457-ECBA-37D2B05C8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B2F3B-DB62-F697-B5C0-60652BC77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96B10-75F8-4457-0EDB-161CB8AA8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7D0FB-3A30-DBF2-6417-8241D038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C2C5F-5023-98A9-B33A-AD88F123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52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D269-0630-7053-39BF-65EB7270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A8F25-434B-8734-2ADC-07446903A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84560-903C-91A7-0632-335EBC55C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42D5-A8FD-F31C-435A-6122CA1D4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FAE60-17DE-A46D-7458-B1407A714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4C45B0-EA22-FB9A-D7F3-F38AED73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09B224-BB0D-3BE1-B2ED-DDDC84F5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28587-B654-D567-5039-7C810D7C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14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B640-CDF6-61B4-3BBC-75F345EB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09E41-FFC7-2EE5-5A34-5E17BF1B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0ED27-750A-1647-81D8-A670C18C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EA6EB-211E-6D24-B40D-98EEDFB8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A5585-9253-D863-5E02-A1491A19A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5DF60-E47E-90AB-333E-0C6FD7F69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C9483-7228-5487-31C4-23FD90E1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5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008D-F102-36DC-1A2B-2A913DB6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251B3-D816-8799-B2BE-8214E0A30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9676C-B652-7C7D-651E-E1158ABBD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7D6EE-9CC0-1ABD-1DDA-62F52F68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EF1A-D88A-8F18-629C-A751B805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F10D0-8F1E-791D-8C7D-29201E47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BB90-9294-41DD-9938-99CDFEC6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EBC17-EBEE-2341-1698-50664B9A8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16512-7446-D649-3111-9687EF6C7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06698-49E8-D767-294D-E974920E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46580-13EB-5395-2E3E-C3BB56B6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68872-5EF9-6C6D-393E-2AA17937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6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FA33-02D7-EB59-67A4-353CEE7B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60011-6029-32BA-3B57-5E0333E3F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3A0B5-0F90-775E-F1C9-817FAF79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EDBE7-9A31-C1C7-00CF-9A8C1118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12B6-B97E-8257-A8BB-491B87EF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44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A8AC5-8552-6086-CED5-CB3B07DBE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E4A87-159A-1947-DA7A-08438DAA6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CAC37-7CB8-DAAD-8963-F26F32BF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1BB76-C317-6E59-5296-B56E8192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B0CDF-131E-208E-2EFB-9EC3373A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7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8CFB3-3072-3868-0B84-3E0308CA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1F290-12A6-D800-3B21-C8D573A2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369DF-20C2-BCAF-3500-7CF28FA27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4710E-5EC2-4EF7-8301-90BCB643E0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6E2CC-6FBC-BC1E-3C08-BF8F7F0F7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8DC07-0E89-0438-1771-C8BD2EB43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08F67-E827-480C-A612-0CB096098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5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3B97-429F-A67A-AC40-E4DD734B0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199"/>
            <a:ext cx="9144000" cy="7667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Cross-Domain Knowledge Transfer from MRI to Ultrasound for Non-Invasive Liver Fibrosis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5288-5246-7EC9-3E67-DC38CFA5A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8884"/>
            <a:ext cx="9144000" cy="128891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Rafsan Jany</a:t>
            </a:r>
          </a:p>
        </p:txBody>
      </p:sp>
    </p:spTree>
    <p:extLst>
      <p:ext uri="{BB962C8B-B14F-4D97-AF65-F5344CB8AC3E}">
        <p14:creationId xmlns:p14="http://schemas.microsoft.com/office/powerpoint/2010/main" val="365176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1024311"/>
            <a:ext cx="11039273" cy="42169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Liver fibrosis and cirrhosis remain major global health burdens, responsible for over million </a:t>
            </a:r>
            <a:r>
              <a:rPr lang="en-US" sz="1400" dirty="0">
                <a:solidFill>
                  <a:srgbClr val="FF0000"/>
                </a:solidFill>
                <a:latin typeface="Edit Undo BRK" pitchFamily="2" charset="-127"/>
                <a:ea typeface="Edit Undo BRK" pitchFamily="2" charset="-127"/>
              </a:rPr>
              <a:t>deaths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annually.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Current Limitations of diagnostic: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Biopsy — Invasive • Sampling error • Not for follow-up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Ultrasound (US) — Cheap • Operator-dependent • Misses early fibrosis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MRI — Detailed • Expensive • Not for routine screening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Clinical &amp; Technical Gap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Can MRI’s rich structural knowledge be transferred to low-cost Ultrasound models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to enhance early fibrosis detection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without paired data or extra scans </a:t>
            </a:r>
            <a:r>
              <a:rPr lang="en-US" sz="1400" dirty="0">
                <a:solidFill>
                  <a:srgbClr val="FF0000"/>
                </a:solidFill>
                <a:latin typeface="Edit Undo BRK" pitchFamily="2" charset="-127"/>
                <a:ea typeface="Edit Undo BRK" pitchFamily="2" charset="-127"/>
              </a:rPr>
              <a:t>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EEF3EE-C4A7-232A-169F-AEA5CDE1F4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0903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Motivation in the context of available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2"/>
            <a:ext cx="11039273" cy="57920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Two large, complementary open datasets now make this question feasible: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CirrMRI600+ —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• 3D MRI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• Expert liver segmentations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• Mild/Moderate/Severe cirrhosis (morphological severity)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Park et al. US Dataset —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• 7,920 B-mode Ultrasound frames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• Biopsy-confirmed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METAVIR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F0–F4 fibrosis labels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Bridging Modalities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Different domains: MRI ≠ US (modality, dimension, labeling)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Same continuum: Both reflect fibrotic progression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MRI: Macro-structural deformation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&gt; US: Micro-textural parenchymal changes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Objective: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Unified, generalizable, and interpretable fibrosis representation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6724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Datasets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1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Dataset 1 – CirrMRI600+ (MRI)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Patients     :  339 cirrhotic + 55 healthy controls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Total scans :  </a:t>
            </a:r>
            <a:r>
              <a:rPr lang="fr-FR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628 MRI volumes ( 310 T1W + 318 T2W 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Data type   :  3D MRI volumes in </a:t>
            </a:r>
            <a:r>
              <a:rPr lang="en-US" sz="1400" dirty="0" err="1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NIfTI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( .</a:t>
            </a:r>
            <a:r>
              <a:rPr lang="en-US" sz="1400" dirty="0" err="1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nii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) format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Labels      :  Voxel-wise segmentation masks for the liver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     Patient-level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cirrhosis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severity = mild / moderate / severe (radiologist-defined)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      Demographics (age, sex)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Tasks demonstrated : 3D liver segmentation + severity classification ( benchmark Dice ≈ 0.88 )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------------------------------------------------------------------------------------------------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Dataset 2 – Park et al., BMC Medical Imaging (2024)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Patients            :  933 patients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Total Images       :  7 920 2D B-mode ultrasound frames</a:t>
            </a:r>
            <a:endParaRPr lang="fr-FR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Data type          :  </a:t>
            </a:r>
            <a:r>
              <a:rPr lang="fr-FR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2D </a:t>
            </a:r>
            <a:r>
              <a:rPr lang="fr-FR" sz="1400" dirty="0" err="1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grayscale</a:t>
            </a:r>
            <a:r>
              <a:rPr lang="fr-FR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images ( </a:t>
            </a:r>
            <a:r>
              <a:rPr lang="fr-FR" sz="1400" dirty="0" err="1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convex</a:t>
            </a:r>
            <a:r>
              <a:rPr lang="fr-FR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probe )</a:t>
            </a: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Labels             :  Pathology-confirmed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METAVIR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F0–F4 ( biopsy / hepatectomy 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Tasks demonstrated : Classification of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fibrosis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stage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2552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Workflow Table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4DEAC8-6A19-245B-EDC8-8FBDD4EC1E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B7E0F6B1-FCFA-4B9C-509D-656AD25C960F}"/>
              </a:ext>
            </a:extLst>
          </p:cNvPr>
          <p:cNvSpPr/>
          <p:nvPr/>
        </p:nvSpPr>
        <p:spPr>
          <a:xfrm>
            <a:off x="282411" y="1359216"/>
            <a:ext cx="1584490" cy="93138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RAW DATA (2 datasets)</a:t>
            </a:r>
            <a:b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 MRI: CirrMRI600+</a:t>
            </a:r>
            <a:b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US: METAVIR US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B67A2E06-0CC5-8AD6-6E92-294B4DC773D4}"/>
              </a:ext>
            </a:extLst>
          </p:cNvPr>
          <p:cNvSpPr/>
          <p:nvPr/>
        </p:nvSpPr>
        <p:spPr>
          <a:xfrm>
            <a:off x="2455287" y="869843"/>
            <a:ext cx="1179135" cy="752415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000" dirty="0">
                <a:latin typeface="Edit Undo BRK" pitchFamily="2" charset="-127"/>
                <a:ea typeface="Edit Undo BRK" pitchFamily="2" charset="-127"/>
              </a:rPr>
            </a:br>
            <a:r>
              <a:rPr lang="en-US" sz="1000" dirty="0">
                <a:latin typeface="Edit Undo BRK" pitchFamily="2" charset="-127"/>
                <a:ea typeface="Edit Undo BRK" pitchFamily="2" charset="-127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MRI: CirrMRI600+</a:t>
            </a:r>
            <a:b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(3d vol)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FB820D96-D527-46E3-FAA2-AB1F1F1B6331}"/>
              </a:ext>
            </a:extLst>
          </p:cNvPr>
          <p:cNvSpPr/>
          <p:nvPr/>
        </p:nvSpPr>
        <p:spPr>
          <a:xfrm>
            <a:off x="2455286" y="2044837"/>
            <a:ext cx="1179136" cy="795343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US: METAVIR US</a:t>
            </a:r>
            <a:b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(2d </a:t>
            </a:r>
            <a:r>
              <a:rPr lang="en-US" sz="1000" dirty="0" err="1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Img</a:t>
            </a: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AD321-4CD3-3AD0-C8EA-DD502B89DD66}"/>
              </a:ext>
            </a:extLst>
          </p:cNvPr>
          <p:cNvSpPr/>
          <p:nvPr/>
        </p:nvSpPr>
        <p:spPr>
          <a:xfrm>
            <a:off x="4101898" y="918348"/>
            <a:ext cx="1300899" cy="4287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MRI LABEL PARSE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(Mild/Mod/</a:t>
            </a:r>
            <a:r>
              <a:rPr lang="en-US" sz="1000" dirty="0" err="1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Sev</a:t>
            </a: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BD4113-4687-3FFA-9A9B-53F2EE2715D5}"/>
              </a:ext>
            </a:extLst>
          </p:cNvPr>
          <p:cNvSpPr/>
          <p:nvPr/>
        </p:nvSpPr>
        <p:spPr>
          <a:xfrm>
            <a:off x="4137967" y="2362974"/>
            <a:ext cx="1300899" cy="4287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US LABEL PARSE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(METAVIR F0–F4)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23805F-A736-FF28-C54A-E2E8682EB4AA}"/>
              </a:ext>
            </a:extLst>
          </p:cNvPr>
          <p:cNvSpPr/>
          <p:nvPr/>
        </p:nvSpPr>
        <p:spPr>
          <a:xfrm>
            <a:off x="5801021" y="940419"/>
            <a:ext cx="1584490" cy="18997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STAGE BIN MAPPING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MRI: 1,2,3 → bins 0,1,2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US : F0–F4 → bins 0,1,2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B02C2-D28A-98DB-4BA2-FEED00574913}"/>
              </a:ext>
            </a:extLst>
          </p:cNvPr>
          <p:cNvSpPr/>
          <p:nvPr/>
        </p:nvSpPr>
        <p:spPr>
          <a:xfrm>
            <a:off x="7747666" y="1583928"/>
            <a:ext cx="1463117" cy="6127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RAIN/VAL/TEST SPLIT (MRI + US, separate)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A4B0E8-ACAB-D315-CB34-5A8AFF39FADB}"/>
              </a:ext>
            </a:extLst>
          </p:cNvPr>
          <p:cNvSpPr/>
          <p:nvPr/>
        </p:nvSpPr>
        <p:spPr>
          <a:xfrm>
            <a:off x="9691664" y="1326516"/>
            <a:ext cx="2177592" cy="1127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FINAL DATALOADERS &amp; SAMPLES</a:t>
            </a:r>
          </a:p>
          <a:p>
            <a:pPr marL="171450" indent="-171450" algn="ctr">
              <a:buFontTx/>
              <a:buChar char="-"/>
            </a:pP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MRI: 3D tensor + bin </a:t>
            </a:r>
          </a:p>
          <a:p>
            <a:pPr marL="171450" indent="-171450" algn="ctr">
              <a:buFontTx/>
              <a:buChar char="-"/>
            </a:pP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US: 2D tensor + bin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A2384E-8C0E-CF47-37D2-02ED5DC7171B}"/>
              </a:ext>
            </a:extLst>
          </p:cNvPr>
          <p:cNvCxnSpPr>
            <a:cxnSpLocks/>
            <a:stCxn id="6" idx="4"/>
            <a:endCxn id="7" idx="2"/>
          </p:cNvCxnSpPr>
          <p:nvPr/>
        </p:nvCxnSpPr>
        <p:spPr>
          <a:xfrm flipV="1">
            <a:off x="1866901" y="1246051"/>
            <a:ext cx="588386" cy="578858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D200DA-7969-3F5C-69C1-D4D5F6FD5D12}"/>
              </a:ext>
            </a:extLst>
          </p:cNvPr>
          <p:cNvCxnSpPr>
            <a:cxnSpLocks/>
            <a:stCxn id="6" idx="4"/>
            <a:endCxn id="8" idx="2"/>
          </p:cNvCxnSpPr>
          <p:nvPr/>
        </p:nvCxnSpPr>
        <p:spPr>
          <a:xfrm>
            <a:off x="1866901" y="1824909"/>
            <a:ext cx="588385" cy="617600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30231A-810A-CE85-27BD-462DE4DC689C}"/>
              </a:ext>
            </a:extLst>
          </p:cNvPr>
          <p:cNvCxnSpPr>
            <a:cxnSpLocks/>
            <a:stCxn id="7" idx="4"/>
            <a:endCxn id="9" idx="1"/>
          </p:cNvCxnSpPr>
          <p:nvPr/>
        </p:nvCxnSpPr>
        <p:spPr>
          <a:xfrm flipV="1">
            <a:off x="3634422" y="1132699"/>
            <a:ext cx="467476" cy="113352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FD49A0-4943-3C7C-4DFF-FBDC81EBA639}"/>
              </a:ext>
            </a:extLst>
          </p:cNvPr>
          <p:cNvCxnSpPr>
            <a:cxnSpLocks/>
            <a:stCxn id="8" idx="4"/>
            <a:endCxn id="10" idx="1"/>
          </p:cNvCxnSpPr>
          <p:nvPr/>
        </p:nvCxnSpPr>
        <p:spPr>
          <a:xfrm>
            <a:off x="3634422" y="2442509"/>
            <a:ext cx="503545" cy="134816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B63C1A-9A8E-C2B4-1E8E-C6F9592C2F8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402797" y="1132699"/>
            <a:ext cx="398224" cy="757601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B8B0995-F0A3-AABB-2D91-49FC4AC8D80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5438866" y="1890300"/>
            <a:ext cx="362155" cy="687025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127B8B6-893A-F7BC-70C3-876F3EC24B46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7385511" y="1890299"/>
            <a:ext cx="362155" cy="1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896AF6-E495-C35C-4AC1-5B7ACCED908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9210783" y="1890299"/>
            <a:ext cx="480881" cy="0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4A44063-E869-AEB3-06A7-A22C51D89F2B}"/>
              </a:ext>
            </a:extLst>
          </p:cNvPr>
          <p:cNvSpPr/>
          <p:nvPr/>
        </p:nvSpPr>
        <p:spPr>
          <a:xfrm>
            <a:off x="10015472" y="3716571"/>
            <a:ext cx="1529976" cy="51805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MRI: 3D tensor + bin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4C4F83-5B82-F221-155A-9029E1BA6147}"/>
              </a:ext>
            </a:extLst>
          </p:cNvPr>
          <p:cNvSpPr/>
          <p:nvPr/>
        </p:nvSpPr>
        <p:spPr>
          <a:xfrm>
            <a:off x="10089604" y="5460533"/>
            <a:ext cx="1381711" cy="4969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US: 2D tensor + bin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EBAD90-3989-0569-8F54-5658113E4499}"/>
              </a:ext>
            </a:extLst>
          </p:cNvPr>
          <p:cNvSpPr/>
          <p:nvPr/>
        </p:nvSpPr>
        <p:spPr>
          <a:xfrm>
            <a:off x="6801600" y="2972613"/>
            <a:ext cx="1529976" cy="11517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Train MRI encoder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Model : 3D encoder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 (teacher)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ECB030-AF22-0DCC-D519-1124A8AA8464}"/>
              </a:ext>
            </a:extLst>
          </p:cNvPr>
          <p:cNvSpPr/>
          <p:nvPr/>
        </p:nvSpPr>
        <p:spPr>
          <a:xfrm>
            <a:off x="6551076" y="5575321"/>
            <a:ext cx="2031023" cy="11517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CROSS-MODAL ALIGNMENT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&gt; Train US encoder</a:t>
            </a:r>
            <a:b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  <a:r>
              <a:rPr lang="en-US" sz="10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Contrastive Loss (core)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 (Student)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03758A-7026-2817-8073-BA04DBEFC2A0}"/>
              </a:ext>
            </a:extLst>
          </p:cNvPr>
          <p:cNvSpPr/>
          <p:nvPr/>
        </p:nvSpPr>
        <p:spPr>
          <a:xfrm>
            <a:off x="6027934" y="4599752"/>
            <a:ext cx="3077308" cy="51805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 Save MRI encoder weights and feature embeddings (teacher)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BD13029-1B4B-0DEE-2A77-95F201127FC1}"/>
              </a:ext>
            </a:extLst>
          </p:cNvPr>
          <p:cNvSpPr/>
          <p:nvPr/>
        </p:nvSpPr>
        <p:spPr>
          <a:xfrm>
            <a:off x="2877931" y="5728636"/>
            <a:ext cx="3077308" cy="51805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Save aligned US encoder &amp; projection heads (</a:t>
            </a:r>
            <a:r>
              <a:rPr lang="en-US" sz="1000" dirty="0" err="1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studenT</a:t>
            </a:r>
            <a:r>
              <a:rPr lang="en-US" sz="1000" dirty="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6E8532-C34F-DA6D-17DB-A54B47299704}"/>
              </a:ext>
            </a:extLst>
          </p:cNvPr>
          <p:cNvSpPr/>
          <p:nvPr/>
        </p:nvSpPr>
        <p:spPr>
          <a:xfrm>
            <a:off x="128869" y="4713365"/>
            <a:ext cx="3077308" cy="51805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Edit Undo BRK" pitchFamily="2" charset="-127"/>
                <a:ea typeface="Edit Undo BRK" pitchFamily="2" charset="-127"/>
              </a:rPr>
              <a:t>MODEL READY FOR INFERENCE &amp; EVALUATION </a:t>
            </a:r>
            <a:endParaRPr lang="en-US" sz="1000" dirty="0">
              <a:solidFill>
                <a:schemeClr val="tx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1719043-8D9A-71C1-AFDF-CA8E63E055D4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>
          <a:xfrm>
            <a:off x="10780460" y="2454082"/>
            <a:ext cx="0" cy="1262489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1DEBA50-C5C9-0C7D-0E0B-2851E129D37A}"/>
              </a:ext>
            </a:extLst>
          </p:cNvPr>
          <p:cNvCxnSpPr>
            <a:cxnSpLocks/>
            <a:stCxn id="13" idx="2"/>
            <a:endCxn id="46" idx="3"/>
          </p:cNvCxnSpPr>
          <p:nvPr/>
        </p:nvCxnSpPr>
        <p:spPr>
          <a:xfrm rot="16200000" flipH="1">
            <a:off x="9498420" y="3736121"/>
            <a:ext cx="3254934" cy="690855"/>
          </a:xfrm>
          <a:prstGeom prst="bentConnector4">
            <a:avLst>
              <a:gd name="adj1" fmla="val 24981"/>
              <a:gd name="adj2" fmla="val 190691"/>
            </a:avLst>
          </a:prstGeom>
          <a:ln>
            <a:solidFill>
              <a:srgbClr val="05FF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85BC6B-FC2B-96DD-BD37-7AE9A78AEE57}"/>
              </a:ext>
            </a:extLst>
          </p:cNvPr>
          <p:cNvCxnSpPr>
            <a:cxnSpLocks/>
            <a:stCxn id="45" idx="1"/>
            <a:endCxn id="48" idx="3"/>
          </p:cNvCxnSpPr>
          <p:nvPr/>
        </p:nvCxnSpPr>
        <p:spPr>
          <a:xfrm flipH="1" flipV="1">
            <a:off x="8331576" y="3548509"/>
            <a:ext cx="1683896" cy="427091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E4807B-38F7-CB50-3457-BBEF0E94D9CA}"/>
              </a:ext>
            </a:extLst>
          </p:cNvPr>
          <p:cNvCxnSpPr>
            <a:cxnSpLocks/>
            <a:stCxn id="46" idx="1"/>
            <a:endCxn id="49" idx="3"/>
          </p:cNvCxnSpPr>
          <p:nvPr/>
        </p:nvCxnSpPr>
        <p:spPr>
          <a:xfrm flipH="1">
            <a:off x="8582099" y="5709016"/>
            <a:ext cx="1507505" cy="442201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94BE4C6-6F3F-170A-302A-C93A4BC43F40}"/>
              </a:ext>
            </a:extLst>
          </p:cNvPr>
          <p:cNvCxnSpPr>
            <a:cxnSpLocks/>
            <a:stCxn id="48" idx="2"/>
            <a:endCxn id="50" idx="0"/>
          </p:cNvCxnSpPr>
          <p:nvPr/>
        </p:nvCxnSpPr>
        <p:spPr>
          <a:xfrm>
            <a:off x="7566588" y="4124404"/>
            <a:ext cx="0" cy="475348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41EED6-CE2C-425D-9843-E73E86EC7492}"/>
              </a:ext>
            </a:extLst>
          </p:cNvPr>
          <p:cNvCxnSpPr>
            <a:cxnSpLocks/>
            <a:stCxn id="50" idx="2"/>
            <a:endCxn id="49" idx="0"/>
          </p:cNvCxnSpPr>
          <p:nvPr/>
        </p:nvCxnSpPr>
        <p:spPr>
          <a:xfrm>
            <a:off x="7566588" y="5117809"/>
            <a:ext cx="0" cy="457512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0D5C305-87C2-0207-859F-FB8222E634EA}"/>
              </a:ext>
            </a:extLst>
          </p:cNvPr>
          <p:cNvCxnSpPr>
            <a:cxnSpLocks/>
            <a:stCxn id="49" idx="1"/>
            <a:endCxn id="51" idx="3"/>
          </p:cNvCxnSpPr>
          <p:nvPr/>
        </p:nvCxnSpPr>
        <p:spPr>
          <a:xfrm flipH="1" flipV="1">
            <a:off x="5955239" y="5987665"/>
            <a:ext cx="595837" cy="163552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E52D4B-FCDF-8DCC-2B8E-C06617D342D8}"/>
              </a:ext>
            </a:extLst>
          </p:cNvPr>
          <p:cNvCxnSpPr>
            <a:cxnSpLocks/>
            <a:stCxn id="51" idx="1"/>
            <a:endCxn id="52" idx="2"/>
          </p:cNvCxnSpPr>
          <p:nvPr/>
        </p:nvCxnSpPr>
        <p:spPr>
          <a:xfrm flipH="1" flipV="1">
            <a:off x="1667523" y="5231422"/>
            <a:ext cx="1210408" cy="756243"/>
          </a:xfrm>
          <a:prstGeom prst="straightConnector1">
            <a:avLst/>
          </a:prstGeom>
          <a:ln>
            <a:solidFill>
              <a:srgbClr val="05FF5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0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4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2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3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94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45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6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697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38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38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38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38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38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38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38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38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38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389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3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911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62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53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374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335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335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335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335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335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35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335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335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Novelty of the Proposed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2"/>
            <a:ext cx="11039273" cy="55353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Edit Undo BRK" pitchFamily="2" charset="-127"/>
                <a:ea typeface="Edit Undo BRK" pitchFamily="2" charset="-127"/>
              </a:rPr>
              <a:t>Cross-Modal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Knowledge Transfer (MRI → US)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First framework transferring 3D MRI morphology → 2D US fibrosis classification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No paired MRI–US scans required — pathology-aware latent space alignment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Contrastive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Deep Learning for Pathology Alignment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Cross-domain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contrastive loss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pulls similar fibrosis stages together, pushes others apart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Builds a shared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“fibrosis manifold” — US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inherits MRI’s structural understanding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Unsupervised Stage-Level Alignment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Works with unpaired datasets — only coarse stage mapping (Mild↔F0–F1, etc.)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Clinically scalable for public, cross-patient datasets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Dual-Stage</a:t>
            </a:r>
            <a:r>
              <a:rPr lang="en-US" sz="1400" dirty="0">
                <a:solidFill>
                  <a:schemeClr val="bg2"/>
                </a:solidFill>
                <a:latin typeface="Edit Undo BRK" pitchFamily="2" charset="-127"/>
                <a:ea typeface="Edit Undo BRK" pitchFamily="2" charset="-127"/>
              </a:rPr>
              <a:t> Learning Strategy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Stage 1: MRI teacher</a:t>
            </a:r>
            <a:r>
              <a:rPr lang="en-US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Edit Undo BRK" pitchFamily="2" charset="-127"/>
                <a:ea typeface="Edit Undo BRK" pitchFamily="2" charset="-127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→ learns segmentation + severity embeddings</a:t>
            </a:r>
          </a:p>
          <a:p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Stage 2: US </a:t>
            </a:r>
            <a:r>
              <a:rPr lang="en-US" sz="1400" dirty="0">
                <a:solidFill>
                  <a:schemeClr val="bg2"/>
                </a:solidFill>
                <a:latin typeface="Edit Undo BRK" pitchFamily="2" charset="-127"/>
                <a:ea typeface="Edit Undo BRK" pitchFamily="2" charset="-127"/>
              </a:rPr>
              <a:t>student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→ aligns via contrastive + distillation losses</a:t>
            </a:r>
          </a:p>
          <a:p>
            <a:endParaRPr lang="en-US" sz="16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4DEAC8-6A19-245B-EDC8-8FBDD4EC1E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4038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Dataset Preparation Part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879962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Dataset 1 – CirrMRI600+ (MRI)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Prepare 3D liver MRI volumes and corresponding severity labels.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Steps: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1.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Load metadata from the provided CSV files (T1_age_gender_evaluation.csv, T2_age_gender_evaluation.csv, etc.).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Each scan includes: patient ID, age, gender, and radiological evaluation (1 = Mild, 2 = Moderate, 3 = Severe).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2.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Load 3D MRI volumes in </a:t>
            </a:r>
            <a:r>
              <a:rPr lang="en-US" sz="1400" dirty="0" err="1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NIfTI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 (.</a:t>
            </a:r>
            <a:r>
              <a:rPr lang="en-US" sz="1400" dirty="0" err="1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nii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)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format and their segmentation masks.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3.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Preprocess each MRI volume: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Crop the liver region using the provided segmentation mask.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Resample all volumes to a consistent voxel spacing (example- 1.5 mm × 1.5 mm × 2.0 mm).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Normalize intensity (clip to 1st–99th percentile, then z-score).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Save as a tensor with shape (1, D, H, W).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4.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Assign class labels: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Use radiological evaluation as the severity class.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Map them into three fibrosis bins: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                               &gt; </a:t>
            </a:r>
            <a:r>
              <a:rPr lang="de-DE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Bin 0</a:t>
            </a: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→ Mild (MRI = 1)</a:t>
            </a:r>
            <a:b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                               &gt; </a:t>
            </a:r>
            <a:r>
              <a:rPr lang="de-DE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Bin 1</a:t>
            </a: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→ Moderate (MRI = 2)</a:t>
            </a:r>
            <a:b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                               &gt; </a:t>
            </a:r>
            <a:r>
              <a:rPr lang="de-DE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Bin 2</a:t>
            </a: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→ Severe (MRI = 3)</a:t>
            </a:r>
          </a:p>
          <a:p>
            <a:pPr marL="0" indent="0">
              <a:buNone/>
            </a:pP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de-DE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5.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Split data by patient ID into train/validation/test sets (70/15/15) ensuring all three bins are represented.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  <a:t>Outputs: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&gt; Preprocessed 3D tensors, &gt; Severity label (1–3), &gt; Bin label (0–2)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1320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Dataset Preparation Part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1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Dataset 2 – Ultrasound Dataset: METAVIR (B-mode US)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Prepare 2D ultrasound frames and biopsy-based fibrosis labels.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Steps: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1.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containing: image path, METAVIR stage (F0–F4), and machine/vendor ID.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2.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Preprocess each ultrasound image: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Convert to grayscale if needed.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Remove black borders and resize to 224 × 224 pixels.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Normalize pixel intensities to [0, 1] or z-score.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</a:t>
            </a:r>
            <a:r>
              <a:rPr lang="pt-BR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Save as tensor (1, 224, 224).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3.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Assign class labels: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Use the biopsy-confirmed METAVIR score (F0–F4).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Map them into three fibrosis bins: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                               &gt; </a:t>
            </a:r>
            <a:r>
              <a:rPr lang="de-DE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Bin 0</a:t>
            </a: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→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F0–F1 (Mild / Early fibrosis)</a:t>
            </a:r>
            <a:b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                               &gt; </a:t>
            </a:r>
            <a:r>
              <a:rPr lang="de-DE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Bin 1</a:t>
            </a: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→ F2–F3 (Moderate / Significant fibrosis)</a:t>
            </a:r>
            <a:b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                               &gt; </a:t>
            </a:r>
            <a:r>
              <a:rPr lang="de-DE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Bin 2</a:t>
            </a: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→ F4 (Severe / Cirrhosis)</a:t>
            </a:r>
          </a:p>
          <a:p>
            <a:pPr marL="0" indent="0">
              <a:buNone/>
            </a:pPr>
            <a:r>
              <a:rPr lang="de-DE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de-DE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4.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Split data by patient (and optionally by ultrasound machine for cross-vendor testing):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70 % train, 15 % validation, 15 % test.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Keep all fibrosis bins represented in each split.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  <a:t>Outputs: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Preprocessed 2D tensors, &gt; METAVIR stage (F0–F4) , &gt; Bin label (0–2), &gt;Vendor ID (optional, for domain analysis)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5282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Dataset Preparation Part 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1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Stage-Level Alignment (for Cross-Modal Learning)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connect MRI and ultrasound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Steps: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1.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Define a shared 3-bin fibrosis continuum: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Bin 0: Early / Mild fibrosis → MRI Mild ↔ US F0–F1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Bin 1: Moderate fibrosis → MRI Moderate ↔ US F2–F3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Bin 2: Severe / Cirrhosis → MRI Severe ↔ US F4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  <a:t>Outputs: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This mapping allows contrastive or distillation learning between unpaired MRI and ultrasound samples that represent the same fibrosis stage.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&gt; MRI samples: (1, D, H, W) tensor + severity class (1–3) + bin (0–2)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&gt; Ultrasound samples: (1, 224, 224) tensor + METAVIR stage (F0–F4) + bin (0–2) + vendor ID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&gt; These prepared datasets are used in: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MRI → teacher training (segmentation + 3-class classification)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US → student training with MRI-aligned contrastive loss.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57065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Training Flow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1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MRI Teacher Training (Structural Learning)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Make the MRI network learn how fibrosis and cirrhosis look structurally in 3D.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Steps: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1.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Input: Preprocessed 3D MRI volumes + liver masks + 3-class labels (Mild / Moderate / Severe).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2.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Model: 3D encoder (</a:t>
            </a:r>
            <a:r>
              <a:rPr lang="en-US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Edit Undo BRK" pitchFamily="2" charset="-127"/>
                <a:ea typeface="Edit Undo BRK" pitchFamily="2" charset="-127"/>
              </a:rPr>
              <a:t>initial Suggestion: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nnUNet3D or SynergyNet3D)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Segmentation head: learns liver shape and boundary.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Classification head: predicts cirrhosis severity (1–3).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  <a:t>Outputs: </a:t>
            </a:r>
            <a:b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Trained MRI encoder that understands fibrosis-related morphology.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For every MRI, you can extract a feature vector (embedding) that represents its fibrosis severity.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Optional: class prototypes (mean embeddings for mild/moderate/severe).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This trained model is now the teacher. it holds high-quality structural information.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endParaRPr lang="en-US" sz="1400" dirty="0">
              <a:solidFill>
                <a:schemeClr val="bg1"/>
              </a:solidFill>
              <a:latin typeface="Edit Undo BRK" pitchFamily="2" charset="-127"/>
              <a:ea typeface="Edit Undo BRK" pitchFamily="2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6614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Training Flow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1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Cross-Modal Alignment (Knowledge Transfer)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Teach the ultrasound encoder to “think like” the MRI encoder — align both modalities in one fibrosis-aware latent space.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Steps: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1.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Input: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&gt; MRI embeddings from the teacher model (not raw MRIs anymore).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&gt; Ultrasound images (2D) with their METAVIR labels (F0–F4).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2.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Model: Student model: 2D CNN (</a:t>
            </a:r>
            <a:r>
              <a:rPr lang="en-US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Edit Undo BRK" pitchFamily="2" charset="-127"/>
                <a:ea typeface="Edit Undo BRK" pitchFamily="2" charset="-127"/>
              </a:rPr>
              <a:t>initial Suggestion: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EfficientNet-B0 or ResNet-50).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Segmentation head: learns liver shape and boundary.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Classification head: predicts cirrhosis severity (1–3).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3.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Training mechanism: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</a:t>
            </a:r>
            <a:r>
              <a:rPr lang="en-US" sz="1400" dirty="0">
                <a:solidFill>
                  <a:srgbClr val="FFFF00"/>
                </a:solidFill>
                <a:latin typeface="Edit Undo BRK" pitchFamily="2" charset="-127"/>
                <a:ea typeface="Edit Undo BRK" pitchFamily="2" charset="-127"/>
              </a:rPr>
              <a:t>Contrastive learning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— if an MRI and US image belong to the same fibrosis bin (mild ↔ F0/F1), pull their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embeddings closer; otherwise, push apart.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Optional distillation loss — make the US network mimic feature statistics (mean embeddings) from the MRI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 network.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&gt; Supervised cross-entropy loss — still classify US images into F0–F4 at the same time.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  <a:t>Outputs: </a:t>
            </a:r>
            <a:b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A unified latent fibrosis manifold shared by MRI and US.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A trained US encoder that benefits from MRI structural knowledge.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At this point, the US model can recognize fibrosis stages more robustly — especially early ones (F1/F2).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11727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Training Flow 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1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Ultrasound Fine-Tuning (Target Optimization)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Specialize the US network for precise METAVIR classification.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Steps: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1.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Freeze most MRI-alignment layers (optional).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2.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Train / fine-tune the US encoder + classifier on ultrasound data only, using standard cross-entropy.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3.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Validation metrics: AUC, accuracy, sensitivity (especially F1–F2), specificity.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  <a:t>Outputs: </a:t>
            </a:r>
            <a:b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final deployable model is purely ultrasound-based — fast, low-cost, and MRI-informed.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9426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199" y="365126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Evaluation and Explainability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29814-0231-08C0-E012-33A254232A9C}"/>
              </a:ext>
            </a:extLst>
          </p:cNvPr>
          <p:cNvSpPr txBox="1">
            <a:spLocks/>
          </p:cNvSpPr>
          <p:nvPr/>
        </p:nvSpPr>
        <p:spPr>
          <a:xfrm>
            <a:off x="838199" y="957571"/>
            <a:ext cx="11039273" cy="56129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Evaluation &amp; Explainability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Edit Undo BRK" pitchFamily="2" charset="-127"/>
                <a:ea typeface="Edit Undo BRK" pitchFamily="2" charset="-127"/>
              </a:rPr>
              <a:t>Objective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: Demonstrate that the model truly learned fibrosis features, not artifacts.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Steps: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1.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Quantitative Evaluation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Test on the reserved US test set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Perform leave-one-vendor-out experiments to prove generalization.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Compare against baseline US-only CNNs.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2.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Qualitative Evaluation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Use Grad-CAM / attention maps on ultrasound images → highlight fibrosis regions.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Plot t-SNE or UMAP of embeddings → show MRI and US samples align along the same fibrosis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	                       progression curve (healthy → fibrotic → cirrhotic).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Visualize MRI vs. US prototypes (centroids) to prove alignment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&gt; </a:t>
            </a:r>
            <a:r>
              <a:rPr lang="en-US" sz="1400" dirty="0">
                <a:solidFill>
                  <a:srgbClr val="00B0F0"/>
                </a:solidFill>
                <a:latin typeface="Edit Undo BRK" pitchFamily="2" charset="-127"/>
                <a:ea typeface="Edit Undo BRK" pitchFamily="2" charset="-127"/>
              </a:rPr>
              <a:t>3. </a:t>
            </a: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Optional Correlation Studies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          &gt; Check correlation between predicted fibrosis score and clinical data (ALT, AST, age, etc.), if available. </a:t>
            </a: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b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  <a:t>Outputs: </a:t>
            </a:r>
            <a:br>
              <a:rPr lang="en-US" sz="1400" dirty="0">
                <a:solidFill>
                  <a:srgbClr val="00B050"/>
                </a:solidFill>
                <a:latin typeface="Edit Undo BRK" pitchFamily="2" charset="-127"/>
                <a:ea typeface="Edit Undo BRK" pitchFamily="2" charset="-127"/>
              </a:rPr>
            </a:br>
            <a:r>
              <a:rPr lang="en-US" sz="1400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 final deployable model is purely ultrasound-based — fast, low-cost, and MRI-informed.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CD1E02-C798-551F-A52B-E7E888739D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99" y="365127"/>
            <a:ext cx="236457" cy="3449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50544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9D6-3E97-65CF-F371-A62A06EE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55" y="6208657"/>
            <a:ext cx="10552889" cy="3449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Edit Undo BRK" pitchFamily="2" charset="-127"/>
                <a:ea typeface="Edit Undo BRK" pitchFamily="2" charset="-127"/>
              </a:rPr>
              <a:t>&gt; Has-ta-la-Vista. System Shutting Down. Any last word?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4DEAC8-6A19-245B-EDC8-8FBDD4EC1E34}"/>
              </a:ext>
            </a:extLst>
          </p:cNvPr>
          <p:cNvSpPr txBox="1">
            <a:spLocks/>
          </p:cNvSpPr>
          <p:nvPr/>
        </p:nvSpPr>
        <p:spPr>
          <a:xfrm>
            <a:off x="819555" y="6208656"/>
            <a:ext cx="236457" cy="34499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&gt;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CA32B1-4E66-8FBB-022A-4E569DA75699}"/>
              </a:ext>
            </a:extLst>
          </p:cNvPr>
          <p:cNvSpPr txBox="1">
            <a:spLocks/>
          </p:cNvSpPr>
          <p:nvPr/>
        </p:nvSpPr>
        <p:spPr>
          <a:xfrm>
            <a:off x="9283433" y="5867116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D3FC12F-2E93-82EB-A93E-D5041928546B}"/>
              </a:ext>
            </a:extLst>
          </p:cNvPr>
          <p:cNvSpPr txBox="1">
            <a:spLocks/>
          </p:cNvSpPr>
          <p:nvPr/>
        </p:nvSpPr>
        <p:spPr>
          <a:xfrm>
            <a:off x="9519890" y="5867115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4C81D6-A306-4643-8EDE-19513BA745C7}"/>
              </a:ext>
            </a:extLst>
          </p:cNvPr>
          <p:cNvSpPr txBox="1">
            <a:spLocks/>
          </p:cNvSpPr>
          <p:nvPr/>
        </p:nvSpPr>
        <p:spPr>
          <a:xfrm>
            <a:off x="9756347" y="5867115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404696-1FC7-9165-EF64-4C5EDC89FFFB}"/>
              </a:ext>
            </a:extLst>
          </p:cNvPr>
          <p:cNvSpPr txBox="1">
            <a:spLocks/>
          </p:cNvSpPr>
          <p:nvPr/>
        </p:nvSpPr>
        <p:spPr>
          <a:xfrm>
            <a:off x="9992804" y="5867115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39F229E-1A0C-C4AA-3BF7-1F41653A13BD}"/>
              </a:ext>
            </a:extLst>
          </p:cNvPr>
          <p:cNvSpPr txBox="1">
            <a:spLocks/>
          </p:cNvSpPr>
          <p:nvPr/>
        </p:nvSpPr>
        <p:spPr>
          <a:xfrm>
            <a:off x="10229261" y="5867115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2BF356-0CF9-B133-8446-17A118865BBF}"/>
              </a:ext>
            </a:extLst>
          </p:cNvPr>
          <p:cNvSpPr txBox="1">
            <a:spLocks/>
          </p:cNvSpPr>
          <p:nvPr/>
        </p:nvSpPr>
        <p:spPr>
          <a:xfrm>
            <a:off x="10663073" y="5867115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8D357FF-DAAB-EC06-C1F4-C6E53D3C3DA6}"/>
              </a:ext>
            </a:extLst>
          </p:cNvPr>
          <p:cNvSpPr txBox="1">
            <a:spLocks/>
          </p:cNvSpPr>
          <p:nvPr/>
        </p:nvSpPr>
        <p:spPr>
          <a:xfrm>
            <a:off x="10899530" y="5867115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652F37-D63A-7FD3-EEA8-4E1590628FC7}"/>
              </a:ext>
            </a:extLst>
          </p:cNvPr>
          <p:cNvSpPr txBox="1">
            <a:spLocks/>
          </p:cNvSpPr>
          <p:nvPr/>
        </p:nvSpPr>
        <p:spPr>
          <a:xfrm>
            <a:off x="11135987" y="5867115"/>
            <a:ext cx="236457" cy="341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Edit Undo BRK" pitchFamily="2" charset="-127"/>
                <a:ea typeface="Edit Undo BRK" pitchFamily="2" charset="-127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369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2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7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2225</Words>
  <Application>Microsoft Office PowerPoint</Application>
  <PresentationFormat>Widescreen</PresentationFormat>
  <Paragraphs>154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Edit Undo BRK</vt:lpstr>
      <vt:lpstr>Aptos</vt:lpstr>
      <vt:lpstr>Aptos Display</vt:lpstr>
      <vt:lpstr>Arial</vt:lpstr>
      <vt:lpstr>Wingdings</vt:lpstr>
      <vt:lpstr>Office Theme</vt:lpstr>
      <vt:lpstr>Cross-Domain Knowledge Transfer from MRI to Ultrasound for Non-Invasive Liver Fibrosis Classification</vt:lpstr>
      <vt:lpstr>&gt; Motivation</vt:lpstr>
      <vt:lpstr>&gt; Motivation in the context of available data</vt:lpstr>
      <vt:lpstr>&gt; Datasets Description</vt:lpstr>
      <vt:lpstr>&gt; Workflow Table</vt:lpstr>
      <vt:lpstr>&gt; Novelty of the Proposed Pipeline</vt:lpstr>
      <vt:lpstr>&gt; Dataset Preparation Part I</vt:lpstr>
      <vt:lpstr>&gt; Dataset Preparation Part II</vt:lpstr>
      <vt:lpstr>&gt; Dataset Preparation Part III</vt:lpstr>
      <vt:lpstr>&gt; Training Flow I</vt:lpstr>
      <vt:lpstr>&gt; Training Flow II</vt:lpstr>
      <vt:lpstr>&gt; Training Flow III</vt:lpstr>
      <vt:lpstr>&gt; Evaluation and Explainability </vt:lpstr>
      <vt:lpstr>&gt; Has-ta-la-Vista. System Shutting Down. Any last word?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Rafsan Jany</dc:creator>
  <cp:lastModifiedBy>Rafsan Jany</cp:lastModifiedBy>
  <cp:revision>29</cp:revision>
  <dcterms:created xsi:type="dcterms:W3CDTF">2025-11-05T08:40:22Z</dcterms:created>
  <dcterms:modified xsi:type="dcterms:W3CDTF">2025-11-12T07:29:14Z</dcterms:modified>
</cp:coreProperties>
</file>